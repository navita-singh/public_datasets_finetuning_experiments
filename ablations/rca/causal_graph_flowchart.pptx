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480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ep1"/>
          <p:cNvSpPr/>
          <p:nvPr/>
        </p:nvSpPr>
        <p:spPr>
          <a:xfrm>
            <a:off x="4206240" y="274320"/>
            <a:ext cx="3749040" cy="640080"/>
          </a:xfrm>
          <a:prstGeom prst="rect">
            <a:avLst/>
          </a:prstGeom>
          <a:solidFill>
            <a:srgbClr val="E3EEF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1. Determine the causal graph for the system</a:t>
            </a:r>
            <a:endParaRPr lang="en-US" sz="1200" b="1" dirty="0"/>
          </a:p>
        </p:txBody>
      </p:sp>
      <p:sp>
        <p:nvSpPr>
          <p:cNvPr id="3" name="Shape 1"/>
          <p:cNvSpPr/>
          <p:nvPr/>
        </p:nvSpPr>
        <p:spPr>
          <a:xfrm>
            <a:off x="6080760" y="914400"/>
            <a:ext cx="0" cy="41148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1641348" y="1325880"/>
            <a:ext cx="8915400" cy="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1641348" y="1325880"/>
            <a:ext cx="0" cy="3657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613148" y="1325880"/>
            <a:ext cx="0" cy="3657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584948" y="1325880"/>
            <a:ext cx="0" cy="3657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10556748" y="1325880"/>
            <a:ext cx="0" cy="3657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9" name="TimeSeries"/>
          <p:cNvSpPr/>
          <p:nvPr/>
        </p:nvSpPr>
        <p:spPr>
          <a:xfrm>
            <a:off x="338328" y="1691640"/>
            <a:ext cx="2606040" cy="1143000"/>
          </a:xfrm>
          <a:prstGeom prst="rect">
            <a:avLst/>
          </a:prstGeom>
          <a:solidFill>
            <a:srgbClr val="E3EEF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causal discovery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PCMCI, VARLiNGAM; Granger for screening only)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time-series data available</a:t>
            </a:r>
            <a:endParaRPr lang="en-US" sz="900" dirty="0"/>
          </a:p>
        </p:txBody>
      </p:sp>
      <p:sp>
        <p:nvSpPr>
          <p:cNvPr id="10" name="Tabular"/>
          <p:cNvSpPr/>
          <p:nvPr/>
        </p:nvSpPr>
        <p:spPr>
          <a:xfrm>
            <a:off x="3310128" y="1691640"/>
            <a:ext cx="2606040" cy="1143000"/>
          </a:xfrm>
          <a:prstGeom prst="rect">
            <a:avLst/>
          </a:prstGeom>
          <a:solidFill>
            <a:srgbClr val="E3EEF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causal discovery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(e.g., PC, GES, NOTEARS; FCI if latent confounders)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cross-sectional / tabular data available</a:t>
            </a:r>
            <a:endParaRPr lang="en-US" sz="900" dirty="0"/>
          </a:p>
        </p:txBody>
      </p:sp>
      <p:sp>
        <p:nvSpPr>
          <p:cNvPr id="11" name="LLM"/>
          <p:cNvSpPr/>
          <p:nvPr/>
        </p:nvSpPr>
        <p:spPr>
          <a:xfrm>
            <a:off x="6281928" y="1691640"/>
            <a:ext cx="2606040" cy="1143000"/>
          </a:xfrm>
          <a:prstGeom prst="rect">
            <a:avLst/>
          </a:prstGeom>
          <a:solidFill>
            <a:srgbClr val="E8F5E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proposal via LLMs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(draft only; needs expert sign-off)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no suitable observational data, but substantial textual resources available</a:t>
            </a:r>
            <a:endParaRPr lang="en-US" sz="900" dirty="0"/>
          </a:p>
        </p:txBody>
      </p:sp>
      <p:sp>
        <p:nvSpPr>
          <p:cNvPr id="12" name="Experts"/>
          <p:cNvSpPr/>
          <p:nvPr/>
        </p:nvSpPr>
        <p:spPr>
          <a:xfrm>
            <a:off x="9253728" y="1691640"/>
            <a:ext cx="2606040" cy="1143000"/>
          </a:xfrm>
          <a:prstGeom prst="rect">
            <a:avLst/>
          </a:prstGeom>
          <a:solidFill>
            <a:srgbClr val="EEEEEE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proposal by human domain experts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no suitable observational data available</a:t>
            </a:r>
            <a:endParaRPr lang="en-US" sz="900" dirty="0"/>
          </a:p>
        </p:txBody>
      </p:sp>
      <p:sp>
        <p:nvSpPr>
          <p:cNvPr id="13" name="Verify"/>
          <p:cNvSpPr/>
          <p:nvPr/>
        </p:nvSpPr>
        <p:spPr>
          <a:xfrm>
            <a:off x="338328" y="3657600"/>
            <a:ext cx="5394960" cy="914400"/>
          </a:xfrm>
          <a:prstGeom prst="rect">
            <a:avLst/>
          </a:prstGeom>
          <a:solidFill>
            <a:srgbClr val="E3EEF9"/>
          </a:solidFill>
          <a:ln w="19050">
            <a:solidFill>
              <a:srgbClr val="2F3E4E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graph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Domain experts   and/or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DoWhy package: Local Markov Condition (LMC) and Total Parent Effect (TPa)*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1348" y="2834640"/>
            <a:ext cx="0" cy="8229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613148" y="2834640"/>
            <a:ext cx="0" cy="8229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6" name="Review"/>
          <p:cNvSpPr/>
          <p:nvPr/>
        </p:nvSpPr>
        <p:spPr>
          <a:xfrm>
            <a:off x="6281928" y="3657600"/>
            <a:ext cx="5577840" cy="914400"/>
          </a:xfrm>
          <a:prstGeom prst="rect">
            <a:avLst/>
          </a:prstGeom>
          <a:solidFill>
            <a:srgbClr val="E3EEF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apply constraints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illogical edges; apply business constraints not yet reflected in the graph; domain-expert sign-off on LLM-proposed edges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4948" y="2834640"/>
            <a:ext cx="0" cy="8229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10556748" y="2834640"/>
            <a:ext cx="0" cy="82296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5733288" y="4114800"/>
            <a:ext cx="548640" cy="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0" name="Decision"/>
          <p:cNvSpPr/>
          <p:nvPr/>
        </p:nvSpPr>
        <p:spPr>
          <a:xfrm>
            <a:off x="7818120" y="4846320"/>
            <a:ext cx="2468880" cy="1280160"/>
          </a:xfrm>
          <a:prstGeom prst="diamond">
            <a:avLst/>
          </a:prstGeom>
          <a:solidFill>
            <a:srgbClr val="FFF8E1"/>
          </a:solidFill>
          <a:ln w="19050">
            <a:solidFill>
              <a:srgbClr val="2F3E4E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flagged?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4572000"/>
            <a:ext cx="0" cy="27432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2" name="Step2"/>
          <p:cNvSpPr/>
          <p:nvPr/>
        </p:nvSpPr>
        <p:spPr>
          <a:xfrm>
            <a:off x="4023360" y="5029200"/>
            <a:ext cx="3291840" cy="914400"/>
          </a:xfrm>
          <a:prstGeom prst="rect">
            <a:avLst/>
          </a:prstGeom>
          <a:solidFill>
            <a:srgbClr val="FDE9D9"/>
          </a:solidFill>
          <a:ln w="19050">
            <a:solidFill>
              <a:srgbClr val="2F3E4E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2. Root cause analysis (RCA) or causal inference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7315200" y="5486400"/>
            <a:ext cx="502920" cy="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4" name="NoLabel"/>
          <p:cNvSpPr txBox="1"/>
          <p:nvPr/>
        </p:nvSpPr>
        <p:spPr>
          <a:xfrm>
            <a:off x="7360920" y="5230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287000" y="5486400"/>
            <a:ext cx="1783080" cy="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 flipV="1">
            <a:off x="12070080" y="594360"/>
            <a:ext cx="0" cy="489204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 flipH="1">
            <a:off x="7955280" y="594360"/>
            <a:ext cx="4114800" cy="0"/>
          </a:xfrm>
          <a:prstGeom prst="line">
            <a:avLst/>
          </a:prstGeom>
          <a:noFill/>
          <a:ln w="15875">
            <a:solidFill>
              <a:srgbClr val="2F3E4E"/>
            </a:solidFill>
            <a:prstDash val="solid"/>
            <a:tailEnd type="triangle"/>
          </a:ln>
        </p:spPr>
        <p:txBody>
          <a:bodyPr/>
          <a:lstStyle/>
          <a:p>
            <a:endParaRPr lang="en-CA"/>
          </a:p>
        </p:txBody>
      </p:sp>
      <p:sp>
        <p:nvSpPr>
          <p:cNvPr id="28" name="YesLabel"/>
          <p:cNvSpPr txBox="1"/>
          <p:nvPr/>
        </p:nvSpPr>
        <p:spPr>
          <a:xfrm>
            <a:off x="1037844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Yes: update the graph and repeat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" y="5166360"/>
            <a:ext cx="164592" cy="164592"/>
          </a:xfrm>
          <a:prstGeom prst="rect">
            <a:avLst/>
          </a:prstGeom>
          <a:solidFill>
            <a:srgbClr val="E3EEF9"/>
          </a:solidFill>
          <a:ln w="952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 txBox="1"/>
          <p:nvPr/>
        </p:nvSpPr>
        <p:spPr>
          <a:xfrm>
            <a:off x="566928" y="51389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55648" y="5166360"/>
            <a:ext cx="164592" cy="164592"/>
          </a:xfrm>
          <a:prstGeom prst="rect">
            <a:avLst/>
          </a:prstGeom>
          <a:solidFill>
            <a:srgbClr val="E8F5E9"/>
          </a:solidFill>
          <a:ln w="952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 txBox="1"/>
          <p:nvPr/>
        </p:nvSpPr>
        <p:spPr>
          <a:xfrm>
            <a:off x="1984248" y="51389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" y="5440680"/>
            <a:ext cx="164592" cy="164592"/>
          </a:xfrm>
          <a:prstGeom prst="rect">
            <a:avLst/>
          </a:prstGeom>
          <a:solidFill>
            <a:srgbClr val="EEEEEE"/>
          </a:solidFill>
          <a:ln w="952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 txBox="1"/>
          <p:nvPr/>
        </p:nvSpPr>
        <p:spPr>
          <a:xfrm>
            <a:off x="566928" y="54132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Expert-based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55648" y="5440680"/>
            <a:ext cx="164592" cy="164592"/>
          </a:xfrm>
          <a:prstGeom prst="rect">
            <a:avLst/>
          </a:prstGeom>
          <a:solidFill>
            <a:srgbClr val="FDE9D9"/>
          </a:solidFill>
          <a:ln w="9525">
            <a:solidFill>
              <a:srgbClr val="2F3E4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 txBox="1"/>
          <p:nvPr/>
        </p:nvSpPr>
        <p:spPr>
          <a:xfrm>
            <a:off x="1984248" y="54132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00" dirty="0"/>
          </a:p>
        </p:txBody>
      </p:sp>
      <p:sp>
        <p:nvSpPr>
          <p:cNvPr id="37" name="Footnote"/>
          <p:cNvSpPr txBox="1"/>
          <p:nvPr/>
        </p:nvSpPr>
        <p:spPr>
          <a:xfrm>
            <a:off x="338328" y="6446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Note*: </a:t>
            </a:r>
            <a:r>
              <a:rPr lang="en-US" sz="9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LMC checks whether an important causal relationship is missing from the causal graph, and TPa checks whether the available data support it. Time-series data may need methods that account for autocorrelation.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Navita Singh</cp:lastModifiedBy>
  <cp:revision>2</cp:revision>
  <dcterms:created xsi:type="dcterms:W3CDTF">2026-10-25T00:07:47Z</dcterms:created>
  <dcterms:modified xsi:type="dcterms:W3CDTF">2026-10-25T00:10:14Z</dcterms:modified>
</cp:coreProperties>
</file>